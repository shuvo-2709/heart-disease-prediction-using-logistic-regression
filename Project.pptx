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70" r:id="rId6"/>
    <p:sldId id="271" r:id="rId7"/>
    <p:sldId id="273" r:id="rId8"/>
    <p:sldId id="274" r:id="rId9"/>
    <p:sldId id="275" r:id="rId10"/>
    <p:sldId id="268" r:id="rId11"/>
    <p:sldId id="272" r:id="rId12"/>
  </p:sldIdLst>
  <p:sldSz cx="18288000" cy="10287000"/>
  <p:notesSz cx="6858000" cy="9144000"/>
  <p:embeddedFontLst>
    <p:embeddedFont>
      <p:font typeface="DM Sans Bold" charset="0"/>
      <p:regular r:id="rId14"/>
    </p:embeddedFont>
    <p:embeddedFont>
      <p:font typeface="DM Sans Italic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1DA159-E483-4952-9576-4681F89A20A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8D2EF-06D2-4F82-8343-24BF252561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725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56910" y="2480906"/>
            <a:ext cx="2078164" cy="207816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21546" y="0"/>
                  </a:moveTo>
                  <a:lnTo>
                    <a:pt x="291254" y="0"/>
                  </a:lnTo>
                  <a:cubicBezTo>
                    <a:pt x="281373" y="0"/>
                    <a:pt x="271898" y="3925"/>
                    <a:pt x="264911" y="10911"/>
                  </a:cubicBezTo>
                  <a:cubicBezTo>
                    <a:pt x="257925" y="17898"/>
                    <a:pt x="254000" y="27373"/>
                    <a:pt x="254000" y="37254"/>
                  </a:cubicBezTo>
                  <a:lnTo>
                    <a:pt x="254000" y="216746"/>
                  </a:lnTo>
                  <a:cubicBezTo>
                    <a:pt x="254000" y="226627"/>
                    <a:pt x="250075" y="236102"/>
                    <a:pt x="243089" y="243089"/>
                  </a:cubicBezTo>
                  <a:cubicBezTo>
                    <a:pt x="236102" y="250075"/>
                    <a:pt x="226627" y="254000"/>
                    <a:pt x="216746" y="254000"/>
                  </a:cubicBezTo>
                  <a:lnTo>
                    <a:pt x="37254" y="254000"/>
                  </a:lnTo>
                  <a:cubicBezTo>
                    <a:pt x="27373" y="254000"/>
                    <a:pt x="17898" y="257925"/>
                    <a:pt x="10911" y="264911"/>
                  </a:cubicBezTo>
                  <a:cubicBezTo>
                    <a:pt x="3925" y="271898"/>
                    <a:pt x="0" y="281373"/>
                    <a:pt x="0" y="291254"/>
                  </a:cubicBezTo>
                  <a:lnTo>
                    <a:pt x="0" y="521546"/>
                  </a:lnTo>
                  <a:cubicBezTo>
                    <a:pt x="0" y="531427"/>
                    <a:pt x="3925" y="540902"/>
                    <a:pt x="10911" y="547889"/>
                  </a:cubicBezTo>
                  <a:cubicBezTo>
                    <a:pt x="17898" y="554875"/>
                    <a:pt x="27373" y="558800"/>
                    <a:pt x="37254" y="558800"/>
                  </a:cubicBezTo>
                  <a:lnTo>
                    <a:pt x="216746" y="558800"/>
                  </a:lnTo>
                  <a:cubicBezTo>
                    <a:pt x="226627" y="558800"/>
                    <a:pt x="236102" y="562725"/>
                    <a:pt x="243089" y="569711"/>
                  </a:cubicBezTo>
                  <a:cubicBezTo>
                    <a:pt x="250075" y="576698"/>
                    <a:pt x="254000" y="586173"/>
                    <a:pt x="254000" y="596054"/>
                  </a:cubicBezTo>
                  <a:lnTo>
                    <a:pt x="254000" y="775546"/>
                  </a:lnTo>
                  <a:cubicBezTo>
                    <a:pt x="254000" y="785427"/>
                    <a:pt x="257925" y="794902"/>
                    <a:pt x="264911" y="801889"/>
                  </a:cubicBezTo>
                  <a:cubicBezTo>
                    <a:pt x="271898" y="808875"/>
                    <a:pt x="281373" y="812800"/>
                    <a:pt x="291254" y="812800"/>
                  </a:cubicBezTo>
                  <a:lnTo>
                    <a:pt x="521546" y="812800"/>
                  </a:lnTo>
                  <a:cubicBezTo>
                    <a:pt x="531427" y="812800"/>
                    <a:pt x="540902" y="808875"/>
                    <a:pt x="547889" y="801889"/>
                  </a:cubicBezTo>
                  <a:cubicBezTo>
                    <a:pt x="554875" y="794902"/>
                    <a:pt x="558800" y="785427"/>
                    <a:pt x="558800" y="775546"/>
                  </a:cubicBezTo>
                  <a:lnTo>
                    <a:pt x="558800" y="596054"/>
                  </a:lnTo>
                  <a:cubicBezTo>
                    <a:pt x="558800" y="586173"/>
                    <a:pt x="562725" y="576698"/>
                    <a:pt x="569711" y="569711"/>
                  </a:cubicBezTo>
                  <a:cubicBezTo>
                    <a:pt x="576698" y="562725"/>
                    <a:pt x="586173" y="558800"/>
                    <a:pt x="596054" y="558800"/>
                  </a:cubicBezTo>
                  <a:lnTo>
                    <a:pt x="775546" y="558800"/>
                  </a:lnTo>
                  <a:cubicBezTo>
                    <a:pt x="785427" y="558800"/>
                    <a:pt x="794902" y="554875"/>
                    <a:pt x="801889" y="547889"/>
                  </a:cubicBezTo>
                  <a:cubicBezTo>
                    <a:pt x="808875" y="540902"/>
                    <a:pt x="812800" y="531427"/>
                    <a:pt x="812800" y="521546"/>
                  </a:cubicBezTo>
                  <a:lnTo>
                    <a:pt x="812800" y="291254"/>
                  </a:lnTo>
                  <a:cubicBezTo>
                    <a:pt x="812800" y="281373"/>
                    <a:pt x="808875" y="271898"/>
                    <a:pt x="801889" y="264911"/>
                  </a:cubicBezTo>
                  <a:cubicBezTo>
                    <a:pt x="794902" y="257925"/>
                    <a:pt x="785427" y="254000"/>
                    <a:pt x="775546" y="254000"/>
                  </a:cubicBezTo>
                  <a:lnTo>
                    <a:pt x="596054" y="254000"/>
                  </a:lnTo>
                  <a:cubicBezTo>
                    <a:pt x="586173" y="254000"/>
                    <a:pt x="576698" y="250075"/>
                    <a:pt x="569711" y="243089"/>
                  </a:cubicBezTo>
                  <a:cubicBezTo>
                    <a:pt x="562725" y="236102"/>
                    <a:pt x="558800" y="226627"/>
                    <a:pt x="558800" y="216746"/>
                  </a:cubicBezTo>
                  <a:lnTo>
                    <a:pt x="558800" y="37254"/>
                  </a:lnTo>
                  <a:cubicBezTo>
                    <a:pt x="558800" y="27373"/>
                    <a:pt x="554875" y="17898"/>
                    <a:pt x="547889" y="10911"/>
                  </a:cubicBezTo>
                  <a:cubicBezTo>
                    <a:pt x="540902" y="3925"/>
                    <a:pt x="531427" y="0"/>
                    <a:pt x="52154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CD0BE">
                    <a:alpha val="100000"/>
                  </a:srgbClr>
                </a:gs>
                <a:gs pos="50000">
                  <a:srgbClr val="35E9D6">
                    <a:alpha val="100000"/>
                  </a:srgbClr>
                </a:gs>
                <a:gs pos="100000">
                  <a:srgbClr val="61F5A1">
                    <a:alpha val="18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10145" y="2765451"/>
            <a:ext cx="15667709" cy="4216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1A1D20"/>
                </a:solidFill>
                <a:latin typeface="DM Sans Bold"/>
                <a:ea typeface="DM Sans Bold"/>
                <a:cs typeface="DM Sans Bold"/>
                <a:sym typeface="DM Sans Bold"/>
              </a:rPr>
              <a:t>Heart Disease </a:t>
            </a:r>
          </a:p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1A1D20"/>
                </a:solidFill>
                <a:latin typeface="DM Sans Bold"/>
                <a:ea typeface="DM Sans Bold"/>
                <a:cs typeface="DM Sans Bold"/>
                <a:sym typeface="DM Sans Bold"/>
              </a:rPr>
              <a:t>Prediction Using Logistic Regression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67540" y="8619800"/>
            <a:ext cx="7461880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i="1">
                <a:solidFill>
                  <a:srgbClr val="1A1D20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Project by: Shuvajit Saha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5011693"/>
            <a:ext cx="892318" cy="89231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72038" y="0"/>
                  </a:moveTo>
                  <a:lnTo>
                    <a:pt x="340762" y="0"/>
                  </a:lnTo>
                  <a:cubicBezTo>
                    <a:pt x="317751" y="0"/>
                    <a:pt x="295683" y="9141"/>
                    <a:pt x="279412" y="25412"/>
                  </a:cubicBezTo>
                  <a:cubicBezTo>
                    <a:pt x="263141" y="41683"/>
                    <a:pt x="254000" y="63751"/>
                    <a:pt x="254000" y="86762"/>
                  </a:cubicBezTo>
                  <a:lnTo>
                    <a:pt x="254000" y="167238"/>
                  </a:lnTo>
                  <a:cubicBezTo>
                    <a:pt x="254000" y="190249"/>
                    <a:pt x="244859" y="212317"/>
                    <a:pt x="228588" y="228588"/>
                  </a:cubicBezTo>
                  <a:cubicBezTo>
                    <a:pt x="212317" y="244859"/>
                    <a:pt x="190249" y="254000"/>
                    <a:pt x="167238" y="254000"/>
                  </a:cubicBezTo>
                  <a:lnTo>
                    <a:pt x="86762" y="254000"/>
                  </a:lnTo>
                  <a:cubicBezTo>
                    <a:pt x="63751" y="254000"/>
                    <a:pt x="41683" y="263141"/>
                    <a:pt x="25412" y="279412"/>
                  </a:cubicBezTo>
                  <a:cubicBezTo>
                    <a:pt x="9141" y="295683"/>
                    <a:pt x="0" y="317751"/>
                    <a:pt x="0" y="340762"/>
                  </a:cubicBezTo>
                  <a:lnTo>
                    <a:pt x="0" y="472038"/>
                  </a:lnTo>
                  <a:cubicBezTo>
                    <a:pt x="0" y="495049"/>
                    <a:pt x="9141" y="517117"/>
                    <a:pt x="25412" y="533388"/>
                  </a:cubicBezTo>
                  <a:cubicBezTo>
                    <a:pt x="41683" y="549659"/>
                    <a:pt x="63751" y="558800"/>
                    <a:pt x="86762" y="558800"/>
                  </a:cubicBezTo>
                  <a:lnTo>
                    <a:pt x="167238" y="558800"/>
                  </a:lnTo>
                  <a:cubicBezTo>
                    <a:pt x="190249" y="558800"/>
                    <a:pt x="212317" y="567941"/>
                    <a:pt x="228588" y="584212"/>
                  </a:cubicBezTo>
                  <a:cubicBezTo>
                    <a:pt x="244859" y="600483"/>
                    <a:pt x="254000" y="622551"/>
                    <a:pt x="254000" y="645562"/>
                  </a:cubicBezTo>
                  <a:lnTo>
                    <a:pt x="254000" y="726038"/>
                  </a:lnTo>
                  <a:cubicBezTo>
                    <a:pt x="254000" y="749049"/>
                    <a:pt x="263141" y="771117"/>
                    <a:pt x="279412" y="787388"/>
                  </a:cubicBezTo>
                  <a:cubicBezTo>
                    <a:pt x="295683" y="803659"/>
                    <a:pt x="317751" y="812800"/>
                    <a:pt x="340762" y="812800"/>
                  </a:cubicBezTo>
                  <a:lnTo>
                    <a:pt x="472038" y="812800"/>
                  </a:lnTo>
                  <a:cubicBezTo>
                    <a:pt x="495049" y="812800"/>
                    <a:pt x="517117" y="803659"/>
                    <a:pt x="533388" y="787388"/>
                  </a:cubicBezTo>
                  <a:cubicBezTo>
                    <a:pt x="549659" y="771117"/>
                    <a:pt x="558800" y="749049"/>
                    <a:pt x="558800" y="726038"/>
                  </a:cubicBezTo>
                  <a:lnTo>
                    <a:pt x="558800" y="645562"/>
                  </a:lnTo>
                  <a:cubicBezTo>
                    <a:pt x="558800" y="622551"/>
                    <a:pt x="567941" y="600483"/>
                    <a:pt x="584212" y="584212"/>
                  </a:cubicBezTo>
                  <a:cubicBezTo>
                    <a:pt x="600483" y="567941"/>
                    <a:pt x="622551" y="558800"/>
                    <a:pt x="645562" y="558800"/>
                  </a:cubicBezTo>
                  <a:lnTo>
                    <a:pt x="726038" y="558800"/>
                  </a:lnTo>
                  <a:cubicBezTo>
                    <a:pt x="749049" y="558800"/>
                    <a:pt x="771117" y="549659"/>
                    <a:pt x="787388" y="533388"/>
                  </a:cubicBezTo>
                  <a:cubicBezTo>
                    <a:pt x="803659" y="517117"/>
                    <a:pt x="812800" y="495049"/>
                    <a:pt x="812800" y="472038"/>
                  </a:cubicBezTo>
                  <a:lnTo>
                    <a:pt x="812800" y="340762"/>
                  </a:lnTo>
                  <a:cubicBezTo>
                    <a:pt x="812800" y="317751"/>
                    <a:pt x="803659" y="295683"/>
                    <a:pt x="787388" y="279412"/>
                  </a:cubicBezTo>
                  <a:cubicBezTo>
                    <a:pt x="771117" y="263141"/>
                    <a:pt x="749049" y="254000"/>
                    <a:pt x="726038" y="254000"/>
                  </a:cubicBezTo>
                  <a:lnTo>
                    <a:pt x="645562" y="254000"/>
                  </a:lnTo>
                  <a:cubicBezTo>
                    <a:pt x="622551" y="254000"/>
                    <a:pt x="600483" y="244859"/>
                    <a:pt x="584212" y="228588"/>
                  </a:cubicBezTo>
                  <a:cubicBezTo>
                    <a:pt x="567941" y="212317"/>
                    <a:pt x="558800" y="190249"/>
                    <a:pt x="558800" y="167238"/>
                  </a:cubicBezTo>
                  <a:lnTo>
                    <a:pt x="558800" y="86762"/>
                  </a:lnTo>
                  <a:cubicBezTo>
                    <a:pt x="558800" y="63751"/>
                    <a:pt x="549659" y="41683"/>
                    <a:pt x="533388" y="25412"/>
                  </a:cubicBezTo>
                  <a:cubicBezTo>
                    <a:pt x="517117" y="9141"/>
                    <a:pt x="495049" y="0"/>
                    <a:pt x="47203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CD0BE">
                    <a:alpha val="100000"/>
                  </a:srgbClr>
                </a:gs>
                <a:gs pos="50000">
                  <a:srgbClr val="35E9D6">
                    <a:alpha val="100000"/>
                  </a:srgbClr>
                </a:gs>
                <a:gs pos="100000">
                  <a:srgbClr val="61F5A1">
                    <a:alpha val="1800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15263870" y="7707576"/>
            <a:ext cx="697974" cy="69797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47880" y="0"/>
                  </a:moveTo>
                  <a:lnTo>
                    <a:pt x="364920" y="0"/>
                  </a:lnTo>
                  <a:cubicBezTo>
                    <a:pt x="303661" y="0"/>
                    <a:pt x="254000" y="49661"/>
                    <a:pt x="254000" y="110920"/>
                  </a:cubicBezTo>
                  <a:lnTo>
                    <a:pt x="254000" y="143080"/>
                  </a:lnTo>
                  <a:cubicBezTo>
                    <a:pt x="254000" y="204339"/>
                    <a:pt x="204339" y="254000"/>
                    <a:pt x="143080" y="254000"/>
                  </a:cubicBezTo>
                  <a:lnTo>
                    <a:pt x="110920" y="254000"/>
                  </a:lnTo>
                  <a:cubicBezTo>
                    <a:pt x="49661" y="254000"/>
                    <a:pt x="0" y="303661"/>
                    <a:pt x="0" y="364920"/>
                  </a:cubicBezTo>
                  <a:lnTo>
                    <a:pt x="0" y="447880"/>
                  </a:lnTo>
                  <a:cubicBezTo>
                    <a:pt x="0" y="509140"/>
                    <a:pt x="49661" y="558800"/>
                    <a:pt x="110920" y="558800"/>
                  </a:cubicBezTo>
                  <a:lnTo>
                    <a:pt x="143080" y="558800"/>
                  </a:lnTo>
                  <a:cubicBezTo>
                    <a:pt x="204339" y="558800"/>
                    <a:pt x="254000" y="608460"/>
                    <a:pt x="254000" y="669720"/>
                  </a:cubicBezTo>
                  <a:lnTo>
                    <a:pt x="254000" y="701880"/>
                  </a:lnTo>
                  <a:cubicBezTo>
                    <a:pt x="254000" y="763140"/>
                    <a:pt x="303661" y="812800"/>
                    <a:pt x="364920" y="812800"/>
                  </a:cubicBezTo>
                  <a:lnTo>
                    <a:pt x="447880" y="812800"/>
                  </a:lnTo>
                  <a:cubicBezTo>
                    <a:pt x="509140" y="812800"/>
                    <a:pt x="558800" y="763140"/>
                    <a:pt x="558800" y="701880"/>
                  </a:cubicBezTo>
                  <a:lnTo>
                    <a:pt x="558800" y="669720"/>
                  </a:lnTo>
                  <a:cubicBezTo>
                    <a:pt x="558800" y="608460"/>
                    <a:pt x="608460" y="558800"/>
                    <a:pt x="669720" y="558800"/>
                  </a:cubicBezTo>
                  <a:lnTo>
                    <a:pt x="701880" y="558800"/>
                  </a:lnTo>
                  <a:cubicBezTo>
                    <a:pt x="763140" y="558800"/>
                    <a:pt x="812800" y="509140"/>
                    <a:pt x="812800" y="447880"/>
                  </a:cubicBezTo>
                  <a:lnTo>
                    <a:pt x="812800" y="364920"/>
                  </a:lnTo>
                  <a:cubicBezTo>
                    <a:pt x="812800" y="303661"/>
                    <a:pt x="763140" y="254000"/>
                    <a:pt x="701880" y="254000"/>
                  </a:cubicBezTo>
                  <a:lnTo>
                    <a:pt x="669720" y="254000"/>
                  </a:lnTo>
                  <a:cubicBezTo>
                    <a:pt x="608460" y="254000"/>
                    <a:pt x="558800" y="204339"/>
                    <a:pt x="558800" y="143080"/>
                  </a:cubicBezTo>
                  <a:lnTo>
                    <a:pt x="558800" y="110920"/>
                  </a:lnTo>
                  <a:cubicBezTo>
                    <a:pt x="558800" y="49661"/>
                    <a:pt x="509140" y="0"/>
                    <a:pt x="4478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CD0BE">
                    <a:alpha val="100000"/>
                  </a:srgbClr>
                </a:gs>
                <a:gs pos="50000">
                  <a:srgbClr val="35E9D6">
                    <a:alpha val="100000"/>
                  </a:srgbClr>
                </a:gs>
                <a:gs pos="100000">
                  <a:srgbClr val="61F5A1">
                    <a:alpha val="18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839EC071-7B3B-F86D-D726-7298113F38F8}"/>
              </a:ext>
            </a:extLst>
          </p:cNvPr>
          <p:cNvSpPr txBox="1">
            <a:spLocks/>
          </p:cNvSpPr>
          <p:nvPr/>
        </p:nvSpPr>
        <p:spPr>
          <a:xfrm>
            <a:off x="1534160" y="624110"/>
            <a:ext cx="8524240" cy="8084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/>
              <a:t>Project Overview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D2F7E82-B5E1-F229-4F42-19D3B449A007}"/>
              </a:ext>
            </a:extLst>
          </p:cNvPr>
          <p:cNvSpPr txBox="1">
            <a:spLocks/>
          </p:cNvSpPr>
          <p:nvPr/>
        </p:nvSpPr>
        <p:spPr>
          <a:xfrm>
            <a:off x="1534160" y="2133600"/>
            <a:ext cx="14620240" cy="14859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Aim:</a:t>
            </a:r>
            <a:r>
              <a:rPr lang="en-US" dirty="0"/>
              <a:t> The aim of this project is to predict whether a patient has heart disease using Logistic Regression.</a:t>
            </a:r>
            <a:endParaRPr lang="en-IN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872A2512-3420-A57B-E007-777C8108D91C}"/>
              </a:ext>
            </a:extLst>
          </p:cNvPr>
          <p:cNvSpPr txBox="1">
            <a:spLocks/>
          </p:cNvSpPr>
          <p:nvPr/>
        </p:nvSpPr>
        <p:spPr>
          <a:xfrm>
            <a:off x="1752600" y="3619500"/>
            <a:ext cx="14401800" cy="6324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Problem Statement:</a:t>
            </a:r>
          </a:p>
          <a:p>
            <a:r>
              <a:rPr lang="en-US" dirty="0"/>
              <a:t>Heart disease is a major global health concern requiring early detection.</a:t>
            </a:r>
          </a:p>
          <a:p>
            <a:r>
              <a:rPr lang="en-US" dirty="0"/>
              <a:t>The model is trained on a structured medical dataset containing attributes such as age, cholesterol level, blood pressure, fasting blood sugar, and more.</a:t>
            </a:r>
          </a:p>
          <a:p>
            <a:r>
              <a:rPr lang="en-US" dirty="0"/>
              <a:t>The goal is to analyze these factors and train a Logistic Regression model to classify patients into Heart Disease or No Heart Disease.</a:t>
            </a:r>
          </a:p>
          <a:p>
            <a:r>
              <a:rPr lang="en-US" dirty="0"/>
              <a:t>This helps demonstrate how machine learning can support medical decision-making and risk assessment.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309B2-FF7F-32F6-4E23-B1605CFE4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193CF1DD-E743-C822-8E79-587EE7777556}"/>
              </a:ext>
            </a:extLst>
          </p:cNvPr>
          <p:cNvSpPr txBox="1">
            <a:spLocks/>
          </p:cNvSpPr>
          <p:nvPr/>
        </p:nvSpPr>
        <p:spPr>
          <a:xfrm>
            <a:off x="1534160" y="624110"/>
            <a:ext cx="8524240" cy="8084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/>
              <a:t>Dataset Description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7AEAE5-B9DF-EBEA-7777-0B8C948792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4" b="3590"/>
          <a:stretch>
            <a:fillRect/>
          </a:stretch>
        </p:blipFill>
        <p:spPr>
          <a:xfrm>
            <a:off x="1534160" y="2352285"/>
            <a:ext cx="16220440" cy="7058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EB7A4C-64B9-4499-D93F-0C46C1E20444}"/>
              </a:ext>
            </a:extLst>
          </p:cNvPr>
          <p:cNvSpPr txBox="1"/>
          <p:nvPr/>
        </p:nvSpPr>
        <p:spPr>
          <a:xfrm>
            <a:off x="1534160" y="1523090"/>
            <a:ext cx="15153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Dataset contains patient medical attributes:</a:t>
            </a:r>
          </a:p>
        </p:txBody>
      </p:sp>
    </p:spTree>
    <p:extLst>
      <p:ext uri="{BB962C8B-B14F-4D97-AF65-F5344CB8AC3E}">
        <p14:creationId xmlns:p14="http://schemas.microsoft.com/office/powerpoint/2010/main" val="2637701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4BBAD-56C8-8979-948B-310D49111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F5D22DCC-E50B-0FD2-F9F4-8C70B65D8678}"/>
              </a:ext>
            </a:extLst>
          </p:cNvPr>
          <p:cNvSpPr txBox="1">
            <a:spLocks/>
          </p:cNvSpPr>
          <p:nvPr/>
        </p:nvSpPr>
        <p:spPr>
          <a:xfrm>
            <a:off x="1534160" y="624110"/>
            <a:ext cx="8524240" cy="8084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/>
              <a:t>Data Preprocessing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BF47FFD-C091-870A-E5A8-DF0D20A04B82}"/>
              </a:ext>
            </a:extLst>
          </p:cNvPr>
          <p:cNvGrpSpPr/>
          <p:nvPr/>
        </p:nvGrpSpPr>
        <p:grpSpPr>
          <a:xfrm>
            <a:off x="3200400" y="1758990"/>
            <a:ext cx="11049000" cy="7499310"/>
            <a:chOff x="3200400" y="1688690"/>
            <a:chExt cx="11049000" cy="749931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B4A706D5-931E-931D-CCFD-D29A14EF2F35}"/>
                </a:ext>
              </a:extLst>
            </p:cNvPr>
            <p:cNvSpPr/>
            <p:nvPr/>
          </p:nvSpPr>
          <p:spPr>
            <a:xfrm>
              <a:off x="3200400" y="1688690"/>
              <a:ext cx="4724400" cy="231181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IN" b="1" dirty="0">
                  <a:solidFill>
                    <a:schemeClr val="tx1"/>
                  </a:solidFill>
                </a:rPr>
                <a:t>1. Dataset Loading</a:t>
              </a:r>
              <a:endParaRPr lang="en-IN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tx1"/>
                  </a:solidFill>
                </a:rPr>
                <a:t>Imported the dataset using </a:t>
              </a:r>
              <a:r>
                <a:rPr lang="en-IN" dirty="0" err="1">
                  <a:solidFill>
                    <a:schemeClr val="tx1"/>
                  </a:solidFill>
                </a:rPr>
                <a:t>pandas.read_csv</a:t>
              </a:r>
              <a:r>
                <a:rPr lang="en-IN" dirty="0">
                  <a:solidFill>
                    <a:schemeClr val="tx1"/>
                  </a:solidFill>
                </a:rPr>
                <a:t>()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tx1"/>
                  </a:solidFill>
                </a:rPr>
                <a:t>Displayed initial rows to understand structure and data types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EF43512-F7B0-81CE-53AB-6A155FD0002E}"/>
                </a:ext>
              </a:extLst>
            </p:cNvPr>
            <p:cNvSpPr/>
            <p:nvPr/>
          </p:nvSpPr>
          <p:spPr>
            <a:xfrm>
              <a:off x="6477000" y="4256630"/>
              <a:ext cx="4648200" cy="231181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IN" b="1" dirty="0">
                  <a:solidFill>
                    <a:schemeClr val="tx1"/>
                  </a:solidFill>
                </a:rPr>
                <a:t>3. Handling Missing &amp; Invalid Values</a:t>
              </a:r>
              <a:endParaRPr lang="en-IN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tx1"/>
                  </a:solidFill>
                </a:rPr>
                <a:t>Replaced all -1 values with </a:t>
              </a:r>
              <a:r>
                <a:rPr lang="en-IN" dirty="0" err="1">
                  <a:solidFill>
                    <a:schemeClr val="tx1"/>
                  </a:solidFill>
                </a:rPr>
                <a:t>NaN</a:t>
              </a:r>
              <a:endParaRPr lang="en-IN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tx1"/>
                  </a:solidFill>
                </a:rPr>
                <a:t>Checked number of missing values using .</a:t>
              </a:r>
              <a:r>
                <a:rPr lang="en-IN" dirty="0" err="1">
                  <a:solidFill>
                    <a:schemeClr val="tx1"/>
                  </a:solidFill>
                </a:rPr>
                <a:t>isnull</a:t>
              </a:r>
              <a:r>
                <a:rPr lang="en-IN" dirty="0">
                  <a:solidFill>
                    <a:schemeClr val="tx1"/>
                  </a:solidFill>
                </a:rPr>
                <a:t>().sum()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tx1"/>
                  </a:solidFill>
                </a:rPr>
                <a:t>Removed incomplete records using </a:t>
              </a:r>
              <a:r>
                <a:rPr lang="en-IN" dirty="0" err="1">
                  <a:solidFill>
                    <a:schemeClr val="tx1"/>
                  </a:solidFill>
                </a:rPr>
                <a:t>dropna</a:t>
              </a:r>
              <a:r>
                <a:rPr lang="en-IN" dirty="0">
                  <a:solidFill>
                    <a:schemeClr val="tx1"/>
                  </a:solidFill>
                </a:rPr>
                <a:t>()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CFE6E83-AC2A-E0D9-C527-B1462042CF8D}"/>
                </a:ext>
              </a:extLst>
            </p:cNvPr>
            <p:cNvSpPr/>
            <p:nvPr/>
          </p:nvSpPr>
          <p:spPr>
            <a:xfrm>
              <a:off x="9601200" y="6876190"/>
              <a:ext cx="4648200" cy="2311810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IN" b="1" dirty="0">
                  <a:solidFill>
                    <a:schemeClr val="tx1"/>
                  </a:solidFill>
                </a:rPr>
                <a:t>5. Train-Test Split</a:t>
              </a:r>
              <a:endParaRPr lang="en-IN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tx1"/>
                  </a:solidFill>
                </a:rPr>
                <a:t>Split dataset into </a:t>
              </a:r>
              <a:r>
                <a:rPr lang="en-IN" b="1" dirty="0">
                  <a:solidFill>
                    <a:schemeClr val="tx1"/>
                  </a:solidFill>
                </a:rPr>
                <a:t>80% training</a:t>
              </a:r>
              <a:r>
                <a:rPr lang="en-IN" dirty="0">
                  <a:solidFill>
                    <a:schemeClr val="tx1"/>
                  </a:solidFill>
                </a:rPr>
                <a:t> and </a:t>
              </a:r>
              <a:r>
                <a:rPr lang="en-IN" b="1" dirty="0">
                  <a:solidFill>
                    <a:schemeClr val="tx1"/>
                  </a:solidFill>
                </a:rPr>
                <a:t>20% testing </a:t>
              </a:r>
              <a:r>
                <a:rPr lang="en-IN" dirty="0">
                  <a:solidFill>
                    <a:schemeClr val="tx1"/>
                  </a:solidFill>
                </a:rPr>
                <a:t>using:</a:t>
              </a:r>
              <a:br>
                <a:rPr lang="en-IN" dirty="0">
                  <a:solidFill>
                    <a:schemeClr val="tx1"/>
                  </a:solidFill>
                </a:rPr>
              </a:br>
              <a:r>
                <a:rPr lang="en-IN" dirty="0" err="1">
                  <a:solidFill>
                    <a:schemeClr val="tx1"/>
                  </a:solidFill>
                </a:rPr>
                <a:t>train_test_split</a:t>
              </a:r>
              <a:r>
                <a:rPr lang="en-IN" dirty="0">
                  <a:solidFill>
                    <a:schemeClr val="tx1"/>
                  </a:solidFill>
                </a:rPr>
                <a:t>(X, y, </a:t>
              </a:r>
              <a:r>
                <a:rPr lang="en-IN" dirty="0" err="1">
                  <a:solidFill>
                    <a:schemeClr val="tx1"/>
                  </a:solidFill>
                </a:rPr>
                <a:t>train_size</a:t>
              </a:r>
              <a:r>
                <a:rPr lang="en-IN" dirty="0">
                  <a:solidFill>
                    <a:schemeClr val="tx1"/>
                  </a:solidFill>
                </a:rPr>
                <a:t>=0.8, </a:t>
              </a:r>
              <a:r>
                <a:rPr lang="en-IN" dirty="0" err="1">
                  <a:solidFill>
                    <a:schemeClr val="tx1"/>
                  </a:solidFill>
                </a:rPr>
                <a:t>random_state</a:t>
              </a:r>
              <a:r>
                <a:rPr lang="en-IN" dirty="0">
                  <a:solidFill>
                    <a:schemeClr val="tx1"/>
                  </a:solidFill>
                </a:rPr>
                <a:t>=0)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28FA65E-D48A-BEEA-194E-39CA53B3D572}"/>
                </a:ext>
              </a:extLst>
            </p:cNvPr>
            <p:cNvSpPr/>
            <p:nvPr/>
          </p:nvSpPr>
          <p:spPr>
            <a:xfrm>
              <a:off x="3200400" y="6876190"/>
              <a:ext cx="4724400" cy="2311810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IN" b="1" dirty="0">
                  <a:solidFill>
                    <a:schemeClr val="tx1"/>
                  </a:solidFill>
                </a:rPr>
                <a:t>4. Feature &amp; Target Separation</a:t>
              </a:r>
              <a:endParaRPr lang="en-IN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tx1"/>
                  </a:solidFill>
                </a:rPr>
                <a:t>Features (X): all columns except </a:t>
              </a:r>
              <a:r>
                <a:rPr lang="en-IN" i="1" dirty="0">
                  <a:solidFill>
                    <a:schemeClr val="tx1"/>
                  </a:solidFill>
                </a:rPr>
                <a:t>Heart Disease Status</a:t>
              </a:r>
              <a:endParaRPr lang="en-IN" dirty="0">
                <a:solidFill>
                  <a:schemeClr val="tx1"/>
                </a:solidFill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tx1"/>
                  </a:solidFill>
                </a:rPr>
                <a:t>Target (y): </a:t>
              </a:r>
              <a:r>
                <a:rPr lang="en-IN" i="1" dirty="0">
                  <a:solidFill>
                    <a:schemeClr val="tx1"/>
                  </a:solidFill>
                </a:rPr>
                <a:t>Heart Disease Status</a:t>
              </a:r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1B3537B-CB03-5AB1-D08B-99D993DF4DC0}"/>
                </a:ext>
              </a:extLst>
            </p:cNvPr>
            <p:cNvSpPr/>
            <p:nvPr/>
          </p:nvSpPr>
          <p:spPr>
            <a:xfrm>
              <a:off x="9601200" y="1688690"/>
              <a:ext cx="4648200" cy="231181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IN" b="1" dirty="0">
                  <a:solidFill>
                    <a:schemeClr val="tx1"/>
                  </a:solidFill>
                </a:rPr>
                <a:t>2. Categorical Encoding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dirty="0">
                  <a:solidFill>
                    <a:schemeClr val="tx1"/>
                  </a:solidFill>
                </a:rPr>
                <a:t>Converted categorical columns into numerical codes using : </a:t>
              </a:r>
              <a:r>
                <a:rPr lang="en-IN" dirty="0" err="1">
                  <a:solidFill>
                    <a:schemeClr val="tx1"/>
                  </a:solidFill>
                </a:rPr>
                <a:t>astype</a:t>
              </a:r>
              <a:r>
                <a:rPr lang="en-IN" dirty="0">
                  <a:solidFill>
                    <a:schemeClr val="tx1"/>
                  </a:solidFill>
                </a:rPr>
                <a:t>('category').</a:t>
              </a:r>
              <a:r>
                <a:rPr lang="en-IN" dirty="0" err="1">
                  <a:solidFill>
                    <a:schemeClr val="tx1"/>
                  </a:solidFill>
                </a:rPr>
                <a:t>cat.codes</a:t>
              </a:r>
              <a:endParaRPr lang="en-IN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0331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070A-86D9-29BB-B150-9285587D5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FAF60D63-3898-3EE7-4EA4-10A5CF2F2663}"/>
              </a:ext>
            </a:extLst>
          </p:cNvPr>
          <p:cNvSpPr txBox="1">
            <a:spLocks/>
          </p:cNvSpPr>
          <p:nvPr/>
        </p:nvSpPr>
        <p:spPr>
          <a:xfrm>
            <a:off x="1534160" y="624110"/>
            <a:ext cx="8524240" cy="8084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/>
              <a:t>Model Used: Logistic Regression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59362C-5C1F-FC55-241A-A9A5C4D14B3F}"/>
              </a:ext>
            </a:extLst>
          </p:cNvPr>
          <p:cNvSpPr/>
          <p:nvPr/>
        </p:nvSpPr>
        <p:spPr>
          <a:xfrm>
            <a:off x="762000" y="4205134"/>
            <a:ext cx="4724400" cy="231181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AutoNum type="arabicPeriod"/>
            </a:pPr>
            <a:r>
              <a:rPr lang="en-US" sz="2000" b="1" dirty="0"/>
              <a:t>Model Selection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Choosing </a:t>
            </a:r>
            <a:r>
              <a:rPr lang="en-US" sz="2000" b="1" dirty="0"/>
              <a:t>Logistic Regression</a:t>
            </a:r>
            <a:r>
              <a:rPr lang="en-US" sz="2000" dirty="0"/>
              <a:t> as the classification algorithm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model = </a:t>
            </a:r>
            <a:r>
              <a:rPr lang="en-US" sz="2000" dirty="0" err="1"/>
              <a:t>LogisticRegression</a:t>
            </a:r>
            <a:r>
              <a:rPr lang="en-US" sz="2000" dirty="0"/>
              <a:t>()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Suitable for binary output: </a:t>
            </a:r>
            <a:r>
              <a:rPr lang="en-US" sz="2000" i="1" dirty="0"/>
              <a:t>Heart Disease (0/1)</a:t>
            </a:r>
            <a:endParaRPr lang="en-US" sz="20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3DC0253-8FC1-697D-7616-9D8B4692EC85}"/>
              </a:ext>
            </a:extLst>
          </p:cNvPr>
          <p:cNvSpPr/>
          <p:nvPr/>
        </p:nvSpPr>
        <p:spPr>
          <a:xfrm>
            <a:off x="12801600" y="4205134"/>
            <a:ext cx="4648200" cy="231181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/>
              <a:t>3. Making Predictions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y_predicted</a:t>
            </a:r>
            <a:r>
              <a:rPr lang="en-US" sz="2000" dirty="0"/>
              <a:t> = </a:t>
            </a:r>
            <a:r>
              <a:rPr lang="en-US" sz="2000" dirty="0" err="1"/>
              <a:t>model.predict</a:t>
            </a:r>
            <a:r>
              <a:rPr lang="en-US" sz="2000" dirty="0"/>
              <a:t>(</a:t>
            </a:r>
            <a:r>
              <a:rPr lang="en-US" sz="2000" dirty="0" err="1"/>
              <a:t>X_test</a:t>
            </a:r>
            <a:r>
              <a:rPr lang="en-US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Predicts heart disease status for unseen test data (20%)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Output values: </a:t>
            </a:r>
            <a:r>
              <a:rPr lang="en-US" sz="2000" b="1" dirty="0"/>
              <a:t>0 = No Disease, 1 = Disease</a:t>
            </a:r>
            <a:endParaRPr lang="en-US" sz="20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CC748E-2D4B-6F37-AF63-48A7509EBBB4}"/>
              </a:ext>
            </a:extLst>
          </p:cNvPr>
          <p:cNvSpPr/>
          <p:nvPr/>
        </p:nvSpPr>
        <p:spPr>
          <a:xfrm>
            <a:off x="6781800" y="4205134"/>
            <a:ext cx="4648200" cy="231181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/>
              <a:t>2. Model Training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model.fit</a:t>
            </a:r>
            <a:r>
              <a:rPr lang="en-US" sz="2000" dirty="0"/>
              <a:t>(</a:t>
            </a:r>
            <a:r>
              <a:rPr lang="en-US" sz="2000" dirty="0" err="1"/>
              <a:t>X_train</a:t>
            </a:r>
            <a:r>
              <a:rPr lang="en-US" sz="2000" dirty="0"/>
              <a:t>, </a:t>
            </a:r>
            <a:r>
              <a:rPr lang="en-US" sz="2000" dirty="0" err="1"/>
              <a:t>y_train</a:t>
            </a:r>
            <a:r>
              <a:rPr lang="en-US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Model learns patterns from </a:t>
            </a:r>
            <a:r>
              <a:rPr lang="en-US" sz="2000" b="1" dirty="0"/>
              <a:t>training data (80%)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Learns relationships between input features and the target</a:t>
            </a:r>
            <a:endParaRPr lang="en-US" sz="2000" b="1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7CCE1B8-2CF2-6F9F-5495-468AB0F4464B}"/>
              </a:ext>
            </a:extLst>
          </p:cNvPr>
          <p:cNvSpPr/>
          <p:nvPr/>
        </p:nvSpPr>
        <p:spPr>
          <a:xfrm>
            <a:off x="5650992" y="511606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009F537-D8AC-A7CD-9B95-A12FF54FB061}"/>
              </a:ext>
            </a:extLst>
          </p:cNvPr>
          <p:cNvSpPr/>
          <p:nvPr/>
        </p:nvSpPr>
        <p:spPr>
          <a:xfrm>
            <a:off x="11670792" y="511537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241209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6F856-BBF3-9D25-602D-2B4403B79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1DDED441-5895-9F5F-6388-62F059647C1E}"/>
              </a:ext>
            </a:extLst>
          </p:cNvPr>
          <p:cNvSpPr txBox="1">
            <a:spLocks/>
          </p:cNvSpPr>
          <p:nvPr/>
        </p:nvSpPr>
        <p:spPr>
          <a:xfrm>
            <a:off x="1534160" y="624110"/>
            <a:ext cx="8524240" cy="8084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/>
              <a:t>Model Evaluation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2B21CC-0770-54B4-9061-7F8BD7C3E7A1}"/>
              </a:ext>
            </a:extLst>
          </p:cNvPr>
          <p:cNvSpPr txBox="1"/>
          <p:nvPr/>
        </p:nvSpPr>
        <p:spPr>
          <a:xfrm>
            <a:off x="1534160" y="2258630"/>
            <a:ext cx="1484884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1. Accuracy Score</a:t>
            </a:r>
          </a:p>
          <a:p>
            <a:pPr marL="457200" indent="-457200" rtl="0">
              <a:buFont typeface="Arial" panose="020B0604020202020204" pitchFamily="34" charset="0"/>
              <a:buChar char="•"/>
            </a:pPr>
            <a:r>
              <a:rPr lang="en-US" sz="3200" dirty="0" err="1"/>
              <a:t>model.score</a:t>
            </a:r>
            <a:r>
              <a:rPr lang="en-US" sz="3200" dirty="0"/>
              <a:t>(</a:t>
            </a:r>
            <a:r>
              <a:rPr lang="en-US" sz="3200" dirty="0" err="1"/>
              <a:t>X_test</a:t>
            </a:r>
            <a:r>
              <a:rPr lang="en-US" sz="3200" dirty="0"/>
              <a:t>, </a:t>
            </a:r>
            <a:r>
              <a:rPr lang="en-US" sz="3200" dirty="0" err="1"/>
              <a:t>y_test</a:t>
            </a:r>
            <a:r>
              <a:rPr lang="en-US" sz="32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Calculates how many predictions the model got </a:t>
            </a:r>
            <a:r>
              <a:rPr lang="en-US" sz="3200" b="1" dirty="0"/>
              <a:t>correct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Measures the overall performance on unseen test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Higher accuracy = better correctness</a:t>
            </a:r>
          </a:p>
          <a:p>
            <a:pPr>
              <a:buNone/>
            </a:pPr>
            <a:endParaRPr lang="en-US" sz="3200" dirty="0"/>
          </a:p>
          <a:p>
            <a:pPr>
              <a:buNone/>
            </a:pPr>
            <a:r>
              <a:rPr lang="en-US" sz="3200" b="1" dirty="0"/>
              <a:t>2. Interpretation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Shows how well the model predicts </a:t>
            </a:r>
            <a:r>
              <a:rPr lang="en-US" sz="3200" b="1" dirty="0"/>
              <a:t>Heart Disease (0/1)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Helps determine if the model is reliable for real-world usage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Used to compare Logistic Regression with other models (e.g., Random Forest)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E8B9C9-FFC6-84EC-D85E-BEBBFDF5E06B}"/>
              </a:ext>
            </a:extLst>
          </p:cNvPr>
          <p:cNvSpPr txBox="1"/>
          <p:nvPr/>
        </p:nvSpPr>
        <p:spPr>
          <a:xfrm>
            <a:off x="4114800" y="8020750"/>
            <a:ext cx="3505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Accuracy</a:t>
            </a:r>
            <a:endParaRPr lang="en-IN" sz="6000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B0FA84D7-64A0-9C9D-0658-0CE1FAA75DE1}"/>
              </a:ext>
            </a:extLst>
          </p:cNvPr>
          <p:cNvSpPr/>
          <p:nvPr/>
        </p:nvSpPr>
        <p:spPr>
          <a:xfrm>
            <a:off x="7403592" y="84201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F3D05-08DE-1924-3E52-60354DBDE443}"/>
              </a:ext>
            </a:extLst>
          </p:cNvPr>
          <p:cNvSpPr txBox="1"/>
          <p:nvPr/>
        </p:nvSpPr>
        <p:spPr>
          <a:xfrm>
            <a:off x="8927592" y="8090237"/>
            <a:ext cx="3505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78%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2455843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BCD75-E280-A00D-364E-571AF5050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4C425386-A293-E6F9-9EB8-568C56F086F8}"/>
              </a:ext>
            </a:extLst>
          </p:cNvPr>
          <p:cNvSpPr txBox="1">
            <a:spLocks/>
          </p:cNvSpPr>
          <p:nvPr/>
        </p:nvSpPr>
        <p:spPr>
          <a:xfrm>
            <a:off x="1534160" y="624110"/>
            <a:ext cx="8524240" cy="8084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/>
              <a:t>Graphical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9B785B-050B-856C-0885-D7249EC1CE0B}"/>
              </a:ext>
            </a:extLst>
          </p:cNvPr>
          <p:cNvSpPr txBox="1"/>
          <p:nvPr/>
        </p:nvSpPr>
        <p:spPr>
          <a:xfrm>
            <a:off x="1534160" y="2258630"/>
            <a:ext cx="5628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IN" sz="3600" dirty="0"/>
              <a:t>Heart Disease by Gender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5125DC-2125-FBB0-FB56-9BEBC221E7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26"/>
          <a:stretch>
            <a:fillRect/>
          </a:stretch>
        </p:blipFill>
        <p:spPr>
          <a:xfrm>
            <a:off x="11125202" y="542761"/>
            <a:ext cx="6084521" cy="437213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A785AF2-19B5-2D23-B61A-8348813E1351}"/>
              </a:ext>
            </a:extLst>
          </p:cNvPr>
          <p:cNvCxnSpPr>
            <a:cxnSpLocks/>
          </p:cNvCxnSpPr>
          <p:nvPr/>
        </p:nvCxnSpPr>
        <p:spPr>
          <a:xfrm>
            <a:off x="7696200" y="2628900"/>
            <a:ext cx="2514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C7F0018-215E-6512-BC8C-DF1B26F708C1}"/>
              </a:ext>
            </a:extLst>
          </p:cNvPr>
          <p:cNvSpPr txBox="1"/>
          <p:nvPr/>
        </p:nvSpPr>
        <p:spPr>
          <a:xfrm>
            <a:off x="1534160" y="7468969"/>
            <a:ext cx="5628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 startAt="2"/>
            </a:pPr>
            <a:r>
              <a:rPr lang="en-IN" sz="3600" dirty="0"/>
              <a:t>Age Distribution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F3B17A-B415-7401-D159-768029470CA6}"/>
              </a:ext>
            </a:extLst>
          </p:cNvPr>
          <p:cNvCxnSpPr>
            <a:cxnSpLocks/>
          </p:cNvCxnSpPr>
          <p:nvPr/>
        </p:nvCxnSpPr>
        <p:spPr>
          <a:xfrm>
            <a:off x="7848600" y="7734300"/>
            <a:ext cx="2514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2643580D-A413-FEF4-F2B6-67576FA22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5202" y="5419561"/>
            <a:ext cx="6084521" cy="4372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847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076CE-E4C2-D9EF-49D6-C0A3CC9B1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5E651303-8122-02AE-8288-5FD1D1158FF3}"/>
              </a:ext>
            </a:extLst>
          </p:cNvPr>
          <p:cNvSpPr txBox="1">
            <a:spLocks/>
          </p:cNvSpPr>
          <p:nvPr/>
        </p:nvSpPr>
        <p:spPr>
          <a:xfrm>
            <a:off x="1534160" y="624110"/>
            <a:ext cx="8524240" cy="8084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/>
              <a:t>Graphical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BD7277-7971-A710-2C78-49DC3CADAE17}"/>
              </a:ext>
            </a:extLst>
          </p:cNvPr>
          <p:cNvSpPr txBox="1"/>
          <p:nvPr/>
        </p:nvSpPr>
        <p:spPr>
          <a:xfrm>
            <a:off x="1534160" y="2258630"/>
            <a:ext cx="5628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 startAt="3"/>
            </a:pPr>
            <a:r>
              <a:rPr lang="en-US" sz="3600" dirty="0"/>
              <a:t>Heart Disease by Exercise Habits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DA37F7-B383-1861-09E1-D544DA521447}"/>
              </a:ext>
            </a:extLst>
          </p:cNvPr>
          <p:cNvCxnSpPr>
            <a:cxnSpLocks/>
          </p:cNvCxnSpPr>
          <p:nvPr/>
        </p:nvCxnSpPr>
        <p:spPr>
          <a:xfrm>
            <a:off x="7696200" y="2628900"/>
            <a:ext cx="2514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655B320-F275-DEEA-D281-5EFB831E2FE9}"/>
              </a:ext>
            </a:extLst>
          </p:cNvPr>
          <p:cNvSpPr txBox="1"/>
          <p:nvPr/>
        </p:nvSpPr>
        <p:spPr>
          <a:xfrm>
            <a:off x="1534160" y="7468969"/>
            <a:ext cx="56286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 startAt="4"/>
            </a:pPr>
            <a:r>
              <a:rPr lang="en-IN" sz="3600" dirty="0"/>
              <a:t>Heart Disease by Diabetes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3F5C36E-0EA3-351A-78B3-88D1E43BE466}"/>
              </a:ext>
            </a:extLst>
          </p:cNvPr>
          <p:cNvCxnSpPr>
            <a:cxnSpLocks/>
          </p:cNvCxnSpPr>
          <p:nvPr/>
        </p:nvCxnSpPr>
        <p:spPr>
          <a:xfrm>
            <a:off x="7848600" y="7734300"/>
            <a:ext cx="2514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3D7C3C2-40D8-2C22-B363-8B2A0697C7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5" r="4988"/>
          <a:stretch>
            <a:fillRect/>
          </a:stretch>
        </p:blipFill>
        <p:spPr>
          <a:xfrm>
            <a:off x="11125202" y="624110"/>
            <a:ext cx="6084521" cy="42433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994496-B441-7DED-CC5E-DC993665EE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5"/>
          <a:stretch>
            <a:fillRect/>
          </a:stretch>
        </p:blipFill>
        <p:spPr>
          <a:xfrm>
            <a:off x="11125202" y="5151120"/>
            <a:ext cx="6084521" cy="42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481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30CF4-C814-698C-A985-DAEEEE29C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EB4D39CD-8AA0-4C3F-5D7B-3312D3AD4E88}"/>
              </a:ext>
            </a:extLst>
          </p:cNvPr>
          <p:cNvSpPr txBox="1">
            <a:spLocks/>
          </p:cNvSpPr>
          <p:nvPr/>
        </p:nvSpPr>
        <p:spPr>
          <a:xfrm>
            <a:off x="1534160" y="624110"/>
            <a:ext cx="8524240" cy="8084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/>
              <a:t>Graphical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91AD90-07E6-E1B9-E487-59D47EE84CAA}"/>
              </a:ext>
            </a:extLst>
          </p:cNvPr>
          <p:cNvSpPr txBox="1"/>
          <p:nvPr/>
        </p:nvSpPr>
        <p:spPr>
          <a:xfrm>
            <a:off x="1534160" y="1638300"/>
            <a:ext cx="5628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en-IN" sz="3600" dirty="0"/>
              <a:t>Heart Disease Distribution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5B31BF-CA98-6F82-F9EC-00300D3DF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190" y="2857500"/>
            <a:ext cx="7215620" cy="556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180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C9814-9FF5-6B87-5046-535BDA4F0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E8279E2A-A16F-AF99-D184-EF6CECCF17DB}"/>
              </a:ext>
            </a:extLst>
          </p:cNvPr>
          <p:cNvSpPr txBox="1">
            <a:spLocks/>
          </p:cNvSpPr>
          <p:nvPr/>
        </p:nvSpPr>
        <p:spPr>
          <a:xfrm>
            <a:off x="1534160" y="624110"/>
            <a:ext cx="8524240" cy="80845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dirty="0"/>
              <a:t>Conclusion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F5365B92-22B9-AB80-56DD-1C2A60B68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8920" y="1943100"/>
            <a:ext cx="1561084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Logistic Regression model was successfully developed to predict </a:t>
            </a:r>
            <a:r>
              <a:rPr lang="en-US" altLang="en-US" sz="2800" b="1" dirty="0">
                <a:latin typeface="Arial" panose="020B0604020202020204" pitchFamily="34" charset="0"/>
              </a:rPr>
              <a:t>Heart Disease</a:t>
            </a:r>
            <a:r>
              <a:rPr lang="en-US" altLang="en-US" sz="2800" dirty="0">
                <a:latin typeface="Arial" panose="020B0604020202020204" pitchFamily="34" charset="0"/>
              </a:rPr>
              <a:t> based on various medical and lifestyle factors.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Data preprocessing steps such as </a:t>
            </a:r>
            <a:r>
              <a:rPr lang="en-US" altLang="en-US" sz="2800" b="1" dirty="0">
                <a:latin typeface="Arial" panose="020B0604020202020204" pitchFamily="34" charset="0"/>
              </a:rPr>
              <a:t>categorical encoding</a:t>
            </a:r>
            <a:r>
              <a:rPr lang="en-US" altLang="en-US" sz="2800" dirty="0">
                <a:latin typeface="Arial" panose="020B0604020202020204" pitchFamily="34" charset="0"/>
              </a:rPr>
              <a:t>, </a:t>
            </a:r>
            <a:r>
              <a:rPr lang="en-US" altLang="en-US" sz="2800" b="1" dirty="0">
                <a:latin typeface="Arial" panose="020B0604020202020204" pitchFamily="34" charset="0"/>
              </a:rPr>
              <a:t>handling missing values</a:t>
            </a:r>
            <a:r>
              <a:rPr lang="en-US" altLang="en-US" sz="2800" dirty="0">
                <a:latin typeface="Arial" panose="020B0604020202020204" pitchFamily="34" charset="0"/>
              </a:rPr>
              <a:t>, and </a:t>
            </a:r>
            <a:r>
              <a:rPr lang="en-US" altLang="en-US" sz="2800" b="1" dirty="0">
                <a:latin typeface="Arial" panose="020B0604020202020204" pitchFamily="34" charset="0"/>
              </a:rPr>
              <a:t>train–test splitting</a:t>
            </a:r>
            <a:r>
              <a:rPr lang="en-US" altLang="en-US" sz="2800" dirty="0">
                <a:latin typeface="Arial" panose="020B0604020202020204" pitchFamily="34" charset="0"/>
              </a:rPr>
              <a:t> ensured high-quality input for the model.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The model demonstrated </a:t>
            </a:r>
            <a:r>
              <a:rPr lang="en-US" altLang="en-US" sz="2800" b="1" dirty="0">
                <a:latin typeface="Arial" panose="020B0604020202020204" pitchFamily="34" charset="0"/>
              </a:rPr>
              <a:t>good prediction accuracy</a:t>
            </a:r>
            <a:r>
              <a:rPr lang="en-US" altLang="en-US" sz="2800" dirty="0">
                <a:latin typeface="Arial" panose="020B0604020202020204" pitchFamily="34" charset="0"/>
              </a:rPr>
              <a:t>, indicating its effectiveness in identifying individuals at risk.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Key features like 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cholesterol level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blood pressure, 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diabetes, 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exercise habits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family history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significantly impacted the prediction results.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This model can support early risk assessment and help in </a:t>
            </a:r>
            <a:r>
              <a:rPr lang="en-US" altLang="en-US" sz="2800" b="1" dirty="0">
                <a:latin typeface="Arial" panose="020B0604020202020204" pitchFamily="34" charset="0"/>
              </a:rPr>
              <a:t>preventive healthcare planning</a:t>
            </a:r>
            <a:r>
              <a:rPr lang="en-US" altLang="en-US" sz="2800" dirty="0">
                <a:latin typeface="Arial" panose="020B0604020202020204" pitchFamily="34" charset="0"/>
              </a:rPr>
              <a:t>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Further improvement is possible by testing advanced models such as </a:t>
            </a:r>
            <a:r>
              <a:rPr lang="en-US" altLang="en-US" sz="2800" b="1" dirty="0">
                <a:latin typeface="Arial" panose="020B0604020202020204" pitchFamily="34" charset="0"/>
              </a:rPr>
              <a:t>Random Forest</a:t>
            </a:r>
            <a:r>
              <a:rPr lang="en-US" altLang="en-US" sz="2800" dirty="0">
                <a:latin typeface="Arial" panose="020B0604020202020204" pitchFamily="34" charset="0"/>
              </a:rPr>
              <a:t>, </a:t>
            </a:r>
            <a:r>
              <a:rPr lang="en-US" altLang="en-US" sz="2800" b="1" dirty="0">
                <a:latin typeface="Arial" panose="020B0604020202020204" pitchFamily="34" charset="0"/>
              </a:rPr>
              <a:t>SVM</a:t>
            </a:r>
            <a:r>
              <a:rPr lang="en-US" altLang="en-US" sz="2800" dirty="0">
                <a:latin typeface="Arial" panose="020B0604020202020204" pitchFamily="34" charset="0"/>
              </a:rPr>
              <a:t>, or </a:t>
            </a:r>
            <a:r>
              <a:rPr lang="en-US" altLang="en-US" sz="2800" b="1" dirty="0">
                <a:latin typeface="Arial" panose="020B0604020202020204" pitchFamily="34" charset="0"/>
              </a:rPr>
              <a:t>Neural Networks</a:t>
            </a:r>
            <a:r>
              <a:rPr lang="en-US" altLang="en-US" sz="2800" dirty="0">
                <a:latin typeface="Arial" panose="020B0604020202020204" pitchFamily="34" charset="0"/>
              </a:rPr>
              <a:t> for higher accuracy.</a:t>
            </a:r>
          </a:p>
        </p:txBody>
      </p:sp>
    </p:spTree>
    <p:extLst>
      <p:ext uri="{BB962C8B-B14F-4D97-AF65-F5344CB8AC3E}">
        <p14:creationId xmlns:p14="http://schemas.microsoft.com/office/powerpoint/2010/main" val="1363601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C205C-C319-DA0A-BA44-1DECB073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552741-95E5-1F92-C816-C182101C884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5000"/>
            </a:blip>
            <a:stretch>
              <a:fillRect t="-9222" b="-9222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BB8EE77-FFE4-AE73-F1E8-CBBF266DECC3}"/>
              </a:ext>
            </a:extLst>
          </p:cNvPr>
          <p:cNvGrpSpPr/>
          <p:nvPr/>
        </p:nvGrpSpPr>
        <p:grpSpPr>
          <a:xfrm>
            <a:off x="1456910" y="2480906"/>
            <a:ext cx="2078164" cy="2078164"/>
            <a:chOff x="0" y="0"/>
            <a:chExt cx="812800" cy="8128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38E9DFD-5E8D-FD35-A220-BD69F343FDD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21546" y="0"/>
                  </a:moveTo>
                  <a:lnTo>
                    <a:pt x="291254" y="0"/>
                  </a:lnTo>
                  <a:cubicBezTo>
                    <a:pt x="281373" y="0"/>
                    <a:pt x="271898" y="3925"/>
                    <a:pt x="264911" y="10911"/>
                  </a:cubicBezTo>
                  <a:cubicBezTo>
                    <a:pt x="257925" y="17898"/>
                    <a:pt x="254000" y="27373"/>
                    <a:pt x="254000" y="37254"/>
                  </a:cubicBezTo>
                  <a:lnTo>
                    <a:pt x="254000" y="216746"/>
                  </a:lnTo>
                  <a:cubicBezTo>
                    <a:pt x="254000" y="226627"/>
                    <a:pt x="250075" y="236102"/>
                    <a:pt x="243089" y="243089"/>
                  </a:cubicBezTo>
                  <a:cubicBezTo>
                    <a:pt x="236102" y="250075"/>
                    <a:pt x="226627" y="254000"/>
                    <a:pt x="216746" y="254000"/>
                  </a:cubicBezTo>
                  <a:lnTo>
                    <a:pt x="37254" y="254000"/>
                  </a:lnTo>
                  <a:cubicBezTo>
                    <a:pt x="27373" y="254000"/>
                    <a:pt x="17898" y="257925"/>
                    <a:pt x="10911" y="264911"/>
                  </a:cubicBezTo>
                  <a:cubicBezTo>
                    <a:pt x="3925" y="271898"/>
                    <a:pt x="0" y="281373"/>
                    <a:pt x="0" y="291254"/>
                  </a:cubicBezTo>
                  <a:lnTo>
                    <a:pt x="0" y="521546"/>
                  </a:lnTo>
                  <a:cubicBezTo>
                    <a:pt x="0" y="531427"/>
                    <a:pt x="3925" y="540902"/>
                    <a:pt x="10911" y="547889"/>
                  </a:cubicBezTo>
                  <a:cubicBezTo>
                    <a:pt x="17898" y="554875"/>
                    <a:pt x="27373" y="558800"/>
                    <a:pt x="37254" y="558800"/>
                  </a:cubicBezTo>
                  <a:lnTo>
                    <a:pt x="216746" y="558800"/>
                  </a:lnTo>
                  <a:cubicBezTo>
                    <a:pt x="226627" y="558800"/>
                    <a:pt x="236102" y="562725"/>
                    <a:pt x="243089" y="569711"/>
                  </a:cubicBezTo>
                  <a:cubicBezTo>
                    <a:pt x="250075" y="576698"/>
                    <a:pt x="254000" y="586173"/>
                    <a:pt x="254000" y="596054"/>
                  </a:cubicBezTo>
                  <a:lnTo>
                    <a:pt x="254000" y="775546"/>
                  </a:lnTo>
                  <a:cubicBezTo>
                    <a:pt x="254000" y="785427"/>
                    <a:pt x="257925" y="794902"/>
                    <a:pt x="264911" y="801889"/>
                  </a:cubicBezTo>
                  <a:cubicBezTo>
                    <a:pt x="271898" y="808875"/>
                    <a:pt x="281373" y="812800"/>
                    <a:pt x="291254" y="812800"/>
                  </a:cubicBezTo>
                  <a:lnTo>
                    <a:pt x="521546" y="812800"/>
                  </a:lnTo>
                  <a:cubicBezTo>
                    <a:pt x="531427" y="812800"/>
                    <a:pt x="540902" y="808875"/>
                    <a:pt x="547889" y="801889"/>
                  </a:cubicBezTo>
                  <a:cubicBezTo>
                    <a:pt x="554875" y="794902"/>
                    <a:pt x="558800" y="785427"/>
                    <a:pt x="558800" y="775546"/>
                  </a:cubicBezTo>
                  <a:lnTo>
                    <a:pt x="558800" y="596054"/>
                  </a:lnTo>
                  <a:cubicBezTo>
                    <a:pt x="558800" y="586173"/>
                    <a:pt x="562725" y="576698"/>
                    <a:pt x="569711" y="569711"/>
                  </a:cubicBezTo>
                  <a:cubicBezTo>
                    <a:pt x="576698" y="562725"/>
                    <a:pt x="586173" y="558800"/>
                    <a:pt x="596054" y="558800"/>
                  </a:cubicBezTo>
                  <a:lnTo>
                    <a:pt x="775546" y="558800"/>
                  </a:lnTo>
                  <a:cubicBezTo>
                    <a:pt x="785427" y="558800"/>
                    <a:pt x="794902" y="554875"/>
                    <a:pt x="801889" y="547889"/>
                  </a:cubicBezTo>
                  <a:cubicBezTo>
                    <a:pt x="808875" y="540902"/>
                    <a:pt x="812800" y="531427"/>
                    <a:pt x="812800" y="521546"/>
                  </a:cubicBezTo>
                  <a:lnTo>
                    <a:pt x="812800" y="291254"/>
                  </a:lnTo>
                  <a:cubicBezTo>
                    <a:pt x="812800" y="281373"/>
                    <a:pt x="808875" y="271898"/>
                    <a:pt x="801889" y="264911"/>
                  </a:cubicBezTo>
                  <a:cubicBezTo>
                    <a:pt x="794902" y="257925"/>
                    <a:pt x="785427" y="254000"/>
                    <a:pt x="775546" y="254000"/>
                  </a:cubicBezTo>
                  <a:lnTo>
                    <a:pt x="596054" y="254000"/>
                  </a:lnTo>
                  <a:cubicBezTo>
                    <a:pt x="586173" y="254000"/>
                    <a:pt x="576698" y="250075"/>
                    <a:pt x="569711" y="243089"/>
                  </a:cubicBezTo>
                  <a:cubicBezTo>
                    <a:pt x="562725" y="236102"/>
                    <a:pt x="558800" y="226627"/>
                    <a:pt x="558800" y="216746"/>
                  </a:cubicBezTo>
                  <a:lnTo>
                    <a:pt x="558800" y="37254"/>
                  </a:lnTo>
                  <a:cubicBezTo>
                    <a:pt x="558800" y="27373"/>
                    <a:pt x="554875" y="17898"/>
                    <a:pt x="547889" y="10911"/>
                  </a:cubicBezTo>
                  <a:cubicBezTo>
                    <a:pt x="540902" y="3925"/>
                    <a:pt x="531427" y="0"/>
                    <a:pt x="52154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CD0BE">
                    <a:alpha val="100000"/>
                  </a:srgbClr>
                </a:gs>
                <a:gs pos="50000">
                  <a:srgbClr val="35E9D6">
                    <a:alpha val="100000"/>
                  </a:srgbClr>
                </a:gs>
                <a:gs pos="100000">
                  <a:srgbClr val="61F5A1">
                    <a:alpha val="18000"/>
                  </a:srgbClr>
                </a:gs>
              </a:gsLst>
              <a:lin ang="0"/>
            </a:gradFill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7895130-ACD1-FE3B-4ABF-54D2A42DFBA8}"/>
                </a:ext>
              </a:extLst>
            </p:cNvPr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4D094D96-A811-9136-551A-504D0691CB8B}"/>
              </a:ext>
            </a:extLst>
          </p:cNvPr>
          <p:cNvSpPr txBox="1"/>
          <p:nvPr/>
        </p:nvSpPr>
        <p:spPr>
          <a:xfrm>
            <a:off x="1028700" y="3955668"/>
            <a:ext cx="15667709" cy="13703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 dirty="0">
                <a:solidFill>
                  <a:srgbClr val="1A1D20"/>
                </a:solidFill>
                <a:latin typeface="DM Sans Bold"/>
                <a:ea typeface="DM Sans Bold"/>
                <a:cs typeface="DM Sans Bold"/>
                <a:sym typeface="DM Sans Bold"/>
              </a:rPr>
              <a:t>THANK YOU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1362E810-9182-53E7-2366-8231FEA11D26}"/>
              </a:ext>
            </a:extLst>
          </p:cNvPr>
          <p:cNvGrpSpPr/>
          <p:nvPr/>
        </p:nvGrpSpPr>
        <p:grpSpPr>
          <a:xfrm>
            <a:off x="1028700" y="5011693"/>
            <a:ext cx="892318" cy="892318"/>
            <a:chOff x="0" y="0"/>
            <a:chExt cx="812800" cy="81280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CF8F391-DEDA-D048-58E8-617B7F809B3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72038" y="0"/>
                  </a:moveTo>
                  <a:lnTo>
                    <a:pt x="340762" y="0"/>
                  </a:lnTo>
                  <a:cubicBezTo>
                    <a:pt x="317751" y="0"/>
                    <a:pt x="295683" y="9141"/>
                    <a:pt x="279412" y="25412"/>
                  </a:cubicBezTo>
                  <a:cubicBezTo>
                    <a:pt x="263141" y="41683"/>
                    <a:pt x="254000" y="63751"/>
                    <a:pt x="254000" y="86762"/>
                  </a:cubicBezTo>
                  <a:lnTo>
                    <a:pt x="254000" y="167238"/>
                  </a:lnTo>
                  <a:cubicBezTo>
                    <a:pt x="254000" y="190249"/>
                    <a:pt x="244859" y="212317"/>
                    <a:pt x="228588" y="228588"/>
                  </a:cubicBezTo>
                  <a:cubicBezTo>
                    <a:pt x="212317" y="244859"/>
                    <a:pt x="190249" y="254000"/>
                    <a:pt x="167238" y="254000"/>
                  </a:cubicBezTo>
                  <a:lnTo>
                    <a:pt x="86762" y="254000"/>
                  </a:lnTo>
                  <a:cubicBezTo>
                    <a:pt x="63751" y="254000"/>
                    <a:pt x="41683" y="263141"/>
                    <a:pt x="25412" y="279412"/>
                  </a:cubicBezTo>
                  <a:cubicBezTo>
                    <a:pt x="9141" y="295683"/>
                    <a:pt x="0" y="317751"/>
                    <a:pt x="0" y="340762"/>
                  </a:cubicBezTo>
                  <a:lnTo>
                    <a:pt x="0" y="472038"/>
                  </a:lnTo>
                  <a:cubicBezTo>
                    <a:pt x="0" y="495049"/>
                    <a:pt x="9141" y="517117"/>
                    <a:pt x="25412" y="533388"/>
                  </a:cubicBezTo>
                  <a:cubicBezTo>
                    <a:pt x="41683" y="549659"/>
                    <a:pt x="63751" y="558800"/>
                    <a:pt x="86762" y="558800"/>
                  </a:cubicBezTo>
                  <a:lnTo>
                    <a:pt x="167238" y="558800"/>
                  </a:lnTo>
                  <a:cubicBezTo>
                    <a:pt x="190249" y="558800"/>
                    <a:pt x="212317" y="567941"/>
                    <a:pt x="228588" y="584212"/>
                  </a:cubicBezTo>
                  <a:cubicBezTo>
                    <a:pt x="244859" y="600483"/>
                    <a:pt x="254000" y="622551"/>
                    <a:pt x="254000" y="645562"/>
                  </a:cubicBezTo>
                  <a:lnTo>
                    <a:pt x="254000" y="726038"/>
                  </a:lnTo>
                  <a:cubicBezTo>
                    <a:pt x="254000" y="749049"/>
                    <a:pt x="263141" y="771117"/>
                    <a:pt x="279412" y="787388"/>
                  </a:cubicBezTo>
                  <a:cubicBezTo>
                    <a:pt x="295683" y="803659"/>
                    <a:pt x="317751" y="812800"/>
                    <a:pt x="340762" y="812800"/>
                  </a:cubicBezTo>
                  <a:lnTo>
                    <a:pt x="472038" y="812800"/>
                  </a:lnTo>
                  <a:cubicBezTo>
                    <a:pt x="495049" y="812800"/>
                    <a:pt x="517117" y="803659"/>
                    <a:pt x="533388" y="787388"/>
                  </a:cubicBezTo>
                  <a:cubicBezTo>
                    <a:pt x="549659" y="771117"/>
                    <a:pt x="558800" y="749049"/>
                    <a:pt x="558800" y="726038"/>
                  </a:cubicBezTo>
                  <a:lnTo>
                    <a:pt x="558800" y="645562"/>
                  </a:lnTo>
                  <a:cubicBezTo>
                    <a:pt x="558800" y="622551"/>
                    <a:pt x="567941" y="600483"/>
                    <a:pt x="584212" y="584212"/>
                  </a:cubicBezTo>
                  <a:cubicBezTo>
                    <a:pt x="600483" y="567941"/>
                    <a:pt x="622551" y="558800"/>
                    <a:pt x="645562" y="558800"/>
                  </a:cubicBezTo>
                  <a:lnTo>
                    <a:pt x="726038" y="558800"/>
                  </a:lnTo>
                  <a:cubicBezTo>
                    <a:pt x="749049" y="558800"/>
                    <a:pt x="771117" y="549659"/>
                    <a:pt x="787388" y="533388"/>
                  </a:cubicBezTo>
                  <a:cubicBezTo>
                    <a:pt x="803659" y="517117"/>
                    <a:pt x="812800" y="495049"/>
                    <a:pt x="812800" y="472038"/>
                  </a:cubicBezTo>
                  <a:lnTo>
                    <a:pt x="812800" y="340762"/>
                  </a:lnTo>
                  <a:cubicBezTo>
                    <a:pt x="812800" y="317751"/>
                    <a:pt x="803659" y="295683"/>
                    <a:pt x="787388" y="279412"/>
                  </a:cubicBezTo>
                  <a:cubicBezTo>
                    <a:pt x="771117" y="263141"/>
                    <a:pt x="749049" y="254000"/>
                    <a:pt x="726038" y="254000"/>
                  </a:cubicBezTo>
                  <a:lnTo>
                    <a:pt x="645562" y="254000"/>
                  </a:lnTo>
                  <a:cubicBezTo>
                    <a:pt x="622551" y="254000"/>
                    <a:pt x="600483" y="244859"/>
                    <a:pt x="584212" y="228588"/>
                  </a:cubicBezTo>
                  <a:cubicBezTo>
                    <a:pt x="567941" y="212317"/>
                    <a:pt x="558800" y="190249"/>
                    <a:pt x="558800" y="167238"/>
                  </a:cubicBezTo>
                  <a:lnTo>
                    <a:pt x="558800" y="86762"/>
                  </a:lnTo>
                  <a:cubicBezTo>
                    <a:pt x="558800" y="63751"/>
                    <a:pt x="549659" y="41683"/>
                    <a:pt x="533388" y="25412"/>
                  </a:cubicBezTo>
                  <a:cubicBezTo>
                    <a:pt x="517117" y="9141"/>
                    <a:pt x="495049" y="0"/>
                    <a:pt x="47203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CD0BE">
                    <a:alpha val="100000"/>
                  </a:srgbClr>
                </a:gs>
                <a:gs pos="50000">
                  <a:srgbClr val="35E9D6">
                    <a:alpha val="100000"/>
                  </a:srgbClr>
                </a:gs>
                <a:gs pos="100000">
                  <a:srgbClr val="61F5A1">
                    <a:alpha val="18000"/>
                  </a:srgbClr>
                </a:gs>
              </a:gsLst>
              <a:lin ang="0"/>
            </a:gradFill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76BF2EE-8B3D-9ADF-F397-00BDBE2F8570}"/>
                </a:ext>
              </a:extLst>
            </p:cNvPr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DD9C989-330A-D42F-313B-F3C1802372A8}"/>
              </a:ext>
            </a:extLst>
          </p:cNvPr>
          <p:cNvGrpSpPr/>
          <p:nvPr/>
        </p:nvGrpSpPr>
        <p:grpSpPr>
          <a:xfrm rot="-10800000">
            <a:off x="15263870" y="7707576"/>
            <a:ext cx="697974" cy="697974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314A0E4D-BD01-5DF6-5714-10B84CE1CB1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47880" y="0"/>
                  </a:moveTo>
                  <a:lnTo>
                    <a:pt x="364920" y="0"/>
                  </a:lnTo>
                  <a:cubicBezTo>
                    <a:pt x="303661" y="0"/>
                    <a:pt x="254000" y="49661"/>
                    <a:pt x="254000" y="110920"/>
                  </a:cubicBezTo>
                  <a:lnTo>
                    <a:pt x="254000" y="143080"/>
                  </a:lnTo>
                  <a:cubicBezTo>
                    <a:pt x="254000" y="204339"/>
                    <a:pt x="204339" y="254000"/>
                    <a:pt x="143080" y="254000"/>
                  </a:cubicBezTo>
                  <a:lnTo>
                    <a:pt x="110920" y="254000"/>
                  </a:lnTo>
                  <a:cubicBezTo>
                    <a:pt x="49661" y="254000"/>
                    <a:pt x="0" y="303661"/>
                    <a:pt x="0" y="364920"/>
                  </a:cubicBezTo>
                  <a:lnTo>
                    <a:pt x="0" y="447880"/>
                  </a:lnTo>
                  <a:cubicBezTo>
                    <a:pt x="0" y="509140"/>
                    <a:pt x="49661" y="558800"/>
                    <a:pt x="110920" y="558800"/>
                  </a:cubicBezTo>
                  <a:lnTo>
                    <a:pt x="143080" y="558800"/>
                  </a:lnTo>
                  <a:cubicBezTo>
                    <a:pt x="204339" y="558800"/>
                    <a:pt x="254000" y="608460"/>
                    <a:pt x="254000" y="669720"/>
                  </a:cubicBezTo>
                  <a:lnTo>
                    <a:pt x="254000" y="701880"/>
                  </a:lnTo>
                  <a:cubicBezTo>
                    <a:pt x="254000" y="763140"/>
                    <a:pt x="303661" y="812800"/>
                    <a:pt x="364920" y="812800"/>
                  </a:cubicBezTo>
                  <a:lnTo>
                    <a:pt x="447880" y="812800"/>
                  </a:lnTo>
                  <a:cubicBezTo>
                    <a:pt x="509140" y="812800"/>
                    <a:pt x="558800" y="763140"/>
                    <a:pt x="558800" y="701880"/>
                  </a:cubicBezTo>
                  <a:lnTo>
                    <a:pt x="558800" y="669720"/>
                  </a:lnTo>
                  <a:cubicBezTo>
                    <a:pt x="558800" y="608460"/>
                    <a:pt x="608460" y="558800"/>
                    <a:pt x="669720" y="558800"/>
                  </a:cubicBezTo>
                  <a:lnTo>
                    <a:pt x="701880" y="558800"/>
                  </a:lnTo>
                  <a:cubicBezTo>
                    <a:pt x="763140" y="558800"/>
                    <a:pt x="812800" y="509140"/>
                    <a:pt x="812800" y="447880"/>
                  </a:cubicBezTo>
                  <a:lnTo>
                    <a:pt x="812800" y="364920"/>
                  </a:lnTo>
                  <a:cubicBezTo>
                    <a:pt x="812800" y="303661"/>
                    <a:pt x="763140" y="254000"/>
                    <a:pt x="701880" y="254000"/>
                  </a:cubicBezTo>
                  <a:lnTo>
                    <a:pt x="669720" y="254000"/>
                  </a:lnTo>
                  <a:cubicBezTo>
                    <a:pt x="608460" y="254000"/>
                    <a:pt x="558800" y="204339"/>
                    <a:pt x="558800" y="143080"/>
                  </a:cubicBezTo>
                  <a:lnTo>
                    <a:pt x="558800" y="110920"/>
                  </a:lnTo>
                  <a:cubicBezTo>
                    <a:pt x="558800" y="49661"/>
                    <a:pt x="509140" y="0"/>
                    <a:pt x="4478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CD0BE">
                    <a:alpha val="100000"/>
                  </a:srgbClr>
                </a:gs>
                <a:gs pos="50000">
                  <a:srgbClr val="35E9D6">
                    <a:alpha val="100000"/>
                  </a:srgbClr>
                </a:gs>
                <a:gs pos="100000">
                  <a:srgbClr val="61F5A1">
                    <a:alpha val="18000"/>
                  </a:srgbClr>
                </a:gs>
              </a:gsLst>
              <a:lin ang="0"/>
            </a:gradFill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04ECDF2-A4C0-3395-B8AF-3E2C49506778}"/>
                </a:ext>
              </a:extLst>
            </p:cNvPr>
            <p:cNvSpPr txBox="1"/>
            <p:nvPr/>
          </p:nvSpPr>
          <p:spPr>
            <a:xfrm>
              <a:off x="190500" y="142875"/>
              <a:ext cx="431800" cy="479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89402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581</Words>
  <Application>Microsoft Office PowerPoint</Application>
  <PresentationFormat>Custom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DM Sans Bold</vt:lpstr>
      <vt:lpstr>Arial</vt:lpstr>
      <vt:lpstr>DM Sans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Teal and White Modern Healthcare Presentation</dc:title>
  <dc:creator>Shuvo's PC</dc:creator>
  <cp:lastModifiedBy>Shuvajit Saha</cp:lastModifiedBy>
  <cp:revision>5</cp:revision>
  <dcterms:created xsi:type="dcterms:W3CDTF">2006-08-16T00:00:00Z</dcterms:created>
  <dcterms:modified xsi:type="dcterms:W3CDTF">2025-11-14T19:31:08Z</dcterms:modified>
  <dc:identifier>DAG4sc4Y9jI</dc:identifier>
</cp:coreProperties>
</file>